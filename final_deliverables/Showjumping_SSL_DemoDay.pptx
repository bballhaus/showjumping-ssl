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media/image10.JPG" ContentType="image/jpeg"/>
  <Override PartName="/ppt/media/image11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47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200" y="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0623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86968"/>
            <a:ext cx="118872" cy="118872"/>
          </a:xfrm>
          <a:prstGeom prst="rect">
            <a:avLst/>
          </a:prstGeom>
          <a:solidFill>
            <a:srgbClr val="8C1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23544" y="83210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131  ·  STANFORD UNIVERSITY  ·  SPRING 2026  ·  FINAL PROJECT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Showjumping Outcomes</a:t>
            </a:r>
            <a:endParaRPr lang="en-US" sz="36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Self-Supervised Video Representations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2926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Type-conditioned estimation of approach quality from unlabeled broadcast footage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3611880"/>
            <a:ext cx="4754880" cy="0"/>
          </a:xfrm>
          <a:prstGeom prst="line">
            <a:avLst/>
          </a:prstGeom>
          <a:noFill/>
          <a:ln w="12700">
            <a:solidFill>
              <a:srgbClr val="D7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3749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Brooke Ballhaus</a:t>
            </a:r>
            <a:r>
              <a:rPr lang="en-US" sz="1400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ballhaus@stanford.edu</a:t>
            </a:r>
            <a:endParaRPr lang="en-US" sz="1400" dirty="0"/>
          </a:p>
        </p:txBody>
      </p:sp>
      <p:pic>
        <p:nvPicPr>
          <p:cNvPr id="8" name="Image 0" descr="assets/takeoff_strip_crop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4343400"/>
            <a:ext cx="10817352" cy="12252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" y="4343400"/>
            <a:ext cx="10817352" cy="1225296"/>
          </a:xfrm>
          <a:prstGeom prst="rect">
            <a:avLst/>
          </a:prstGeom>
          <a:ln w="12700">
            <a:solidFill>
              <a:srgbClr val="D7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85800" y="562356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  YOLOv8 horse track (green) · detected takeoff across a 1.50 m fence.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118872" cy="118872"/>
          </a:xfrm>
          <a:prstGeom prst="rect">
            <a:avLst/>
          </a:prstGeom>
          <a:solidFill>
            <a:srgbClr val="8C1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23544" y="42062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·  PROBLEM STATEMENT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 prediction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85800" y="1964267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quality</a:t>
            </a:r>
            <a:r>
              <a:rPr lang="en-US" sz="15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stride rhythm, approach velocity, takeoff distance.</a:t>
            </a:r>
          </a:p>
          <a:p>
            <a:pPr>
              <a:lnSpc>
                <a:spcPts val="2100"/>
              </a:lnSpc>
            </a:pPr>
            <a:r>
              <a:rPr lang="en-US" sz="15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is a factor of approach quality and obstacle difficulty.</a:t>
            </a:r>
          </a:p>
          <a:p>
            <a:pPr>
              <a:lnSpc>
                <a:spcPts val="2100"/>
              </a:lnSpc>
            </a:pPr>
            <a:r>
              <a:rPr lang="en-US" sz="15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r>
              <a:rPr lang="en-US" sz="15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550" b="1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r>
              <a:rPr lang="en-US" sz="15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550" b="1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knockdown</a:t>
            </a:r>
            <a:r>
              <a:rPr lang="en-US" sz="15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550" b="1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</a:t>
            </a:r>
            <a:r>
              <a:rPr lang="en-US" sz="15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50"/>
          </a:p>
          <a:p>
            <a:pPr marL="0" indent="0">
              <a:lnSpc>
                <a:spcPts val="2100"/>
              </a:lnSpc>
              <a:buNone/>
            </a:pPr>
            <a:r>
              <a:rPr lang="en-US" sz="15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85800" y="3977640"/>
            <a:ext cx="5486400" cy="2057400"/>
          </a:xfrm>
          <a:prstGeom prst="rect">
            <a:avLst/>
          </a:prstGeom>
          <a:solidFill>
            <a:srgbClr val="F4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3977640"/>
            <a:ext cx="64008" cy="2057400"/>
          </a:xfrm>
          <a:prstGeom prst="rect">
            <a:avLst/>
          </a:prstGeom>
          <a:solidFill>
            <a:srgbClr val="8C1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1832" y="4114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FORMULATION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41832" y="4398264"/>
            <a:ext cx="4983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 height fixed at </a:t>
            </a:r>
            <a:r>
              <a:rPr lang="en-US" sz="14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 m, conditioned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type (vertical / oxer).</a:t>
            </a:r>
            <a:endParaRPr lang="en-US" sz="1400" dirty="0"/>
          </a:p>
          <a:p>
            <a:pPr marL="177800" indent="-1778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takeoff </a:t>
            </a:r>
            <a:r>
              <a:rPr lang="en-US" sz="14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</a:t>
            </a:r>
            <a:r>
              <a:rPr lang="en-US" sz="1400" b="1" i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1400" i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177800" indent="-1778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value is type-dependent.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17373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Type-dependence of the optimal takeoff distance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194560"/>
          <a:ext cx="4983480" cy="8763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661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plane of rails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~2.6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661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spread rails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~2.1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537960" y="3977640"/>
            <a:ext cx="4983480" cy="2057400"/>
          </a:xfrm>
          <a:prstGeom prst="rect">
            <a:avLst/>
          </a:prstGeom>
          <a:solidFill>
            <a:srgbClr val="F4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537960" y="3977640"/>
            <a:ext cx="64008" cy="2057400"/>
          </a:xfrm>
          <a:prstGeom prst="rect">
            <a:avLst/>
          </a:prstGeom>
          <a:solidFill>
            <a:srgbClr val="8C1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793992" y="411480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793992" y="4398264"/>
            <a:ext cx="4480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400"/>
              <a:t>Measure how much SSL pretraining on unlabeled clips reduces the labels needed for approach quality prediction.</a:t>
            </a:r>
            <a:br>
              <a:rPr lang="en-US" sz="1400"/>
            </a:br>
            <a:endParaRPr lang="en-US" sz="1400"/>
          </a:p>
          <a:p>
            <a:pPr>
              <a:lnSpc>
                <a:spcPts val="2000"/>
              </a:lnSpc>
            </a:pPr>
            <a:r>
              <a:rPr lang="en-US" sz="1400"/>
              <a:t>Benchmarking against from-scratch supervised and ImageNet features across label budgets.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85800" y="6400800"/>
            <a:ext cx="10817352" cy="0"/>
          </a:xfrm>
          <a:prstGeom prst="line">
            <a:avLst/>
          </a:prstGeom>
          <a:noFill/>
          <a:ln w="12700">
            <a:solidFill>
              <a:srgbClr val="D7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8580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Showjumping Outcomes with Self-Supervised Video Representations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7599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Ballhaus  ·  CS 131  ·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118872" cy="118872"/>
          </a:xfrm>
          <a:prstGeom prst="rect">
            <a:avLst/>
          </a:prstGeom>
          <a:solidFill>
            <a:srgbClr val="8C1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23544" y="42062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·  DATA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Diverse corpus </a:t>
            </a:r>
            <a:r>
              <a:rPr lang="en-US" sz="2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</a:t>
            </a:r>
            <a:r>
              <a:rPr lang="en-US" sz="27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unlabeled clips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19805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95528" y="2743200"/>
            <a:ext cx="19440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Prix broadcasts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849270" y="2057400"/>
            <a:ext cx="0" cy="1143000"/>
          </a:xfrm>
          <a:prstGeom prst="line">
            <a:avLst/>
          </a:prstGeom>
          <a:noFill/>
          <a:ln w="12700">
            <a:solidFill>
              <a:srgbClr val="D7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40710" y="1965960"/>
            <a:ext cx="19805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18.5 h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958998" y="2743200"/>
            <a:ext cx="19440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1.50 m footage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12741" y="2057400"/>
            <a:ext cx="0" cy="1143000"/>
          </a:xfrm>
          <a:prstGeom prst="line">
            <a:avLst/>
          </a:prstGeom>
          <a:noFill/>
          <a:ln w="12700">
            <a:solidFill>
              <a:srgbClr val="D7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04181" y="1965960"/>
            <a:ext cx="19805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2,223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122469" y="2743200"/>
            <a:ext cx="19440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2-sec clips @ 16 fps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76211" y="2057400"/>
            <a:ext cx="0" cy="1143000"/>
          </a:xfrm>
          <a:prstGeom prst="line">
            <a:avLst/>
          </a:prstGeom>
          <a:noFill/>
          <a:ln w="12700">
            <a:solidFill>
              <a:srgbClr val="D7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267651" y="1965960"/>
            <a:ext cx="19805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1,121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285939" y="2743200"/>
            <a:ext cx="19440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by horse filter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339682" y="2057400"/>
            <a:ext cx="0" cy="1143000"/>
          </a:xfrm>
          <a:prstGeom prst="line">
            <a:avLst/>
          </a:prstGeom>
          <a:noFill/>
          <a:ln w="12700">
            <a:solidFill>
              <a:srgbClr val="D7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31122" y="1965960"/>
            <a:ext cx="19805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182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449410" y="2743200"/>
            <a:ext cx="19440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annotations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3703320"/>
            <a:ext cx="10817352" cy="0"/>
          </a:xfrm>
          <a:prstGeom prst="line">
            <a:avLst/>
          </a:prstGeom>
          <a:noFill/>
          <a:ln w="12700">
            <a:solidFill>
              <a:srgbClr val="D7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3977640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66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5800" y="4233672"/>
            <a:ext cx="5440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Grand </a:t>
            </a:r>
            <a:r>
              <a:rPr lang="en-US" sz="14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broadcasts: Wellington, Tryon, Madrid</a:t>
            </a:r>
            <a:endParaRPr lang="en-US" sz="1400" dirty="0"/>
          </a:p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horse filter keeps 1,121 (</a:t>
            </a:r>
            <a:r>
              <a:rPr lang="en-US" sz="14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crowd, course-walk, replay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400" dirty="0"/>
          </a:p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labels: 39 </a:t>
            </a:r>
            <a:r>
              <a:rPr lang="en-US" sz="14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 boxes, 110 outcomes, 33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takeoff frames.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46520" y="3977640"/>
            <a:ext cx="5074920" cy="1874520"/>
          </a:xfrm>
          <a:prstGeom prst="rect">
            <a:avLst/>
          </a:prstGeom>
          <a:solidFill>
            <a:srgbClr val="F4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46520" y="3977640"/>
            <a:ext cx="64008" cy="1874520"/>
          </a:xfrm>
          <a:prstGeom prst="rect">
            <a:avLst/>
          </a:prstGeom>
          <a:solidFill>
            <a:srgbClr val="8C1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02552" y="411480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SELF-SUPERVISION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02552" y="4398264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4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Plenty of footage, labels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(frame-by-frame).</a:t>
            </a:r>
            <a:endParaRPr lang="en-US" sz="1400" dirty="0"/>
          </a:p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 encoder on all 1,121 unlabeled clips.</a:t>
            </a:r>
            <a:endParaRPr lang="en-US" sz="1400" dirty="0"/>
          </a:p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compact heads on a small labeled subset.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5800" y="6400800"/>
            <a:ext cx="10817352" cy="0"/>
          </a:xfrm>
          <a:prstGeom prst="line">
            <a:avLst/>
          </a:prstGeom>
          <a:noFill/>
          <a:ln w="12700">
            <a:solidFill>
              <a:srgbClr val="D7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Showjumping Outcomes with Self-Supervised Video Representations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7599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Ballhaus  ·  CS 131  ·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118872" cy="118872"/>
          </a:xfrm>
          <a:prstGeom prst="rect">
            <a:avLst/>
          </a:prstGeom>
          <a:solidFill>
            <a:srgbClr val="8C1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23544" y="42062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·  METHODOLOGY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architecture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1944014" cy="2286000"/>
          </a:xfrm>
          <a:prstGeom prst="rect">
            <a:avLst/>
          </a:prstGeom>
          <a:solidFill>
            <a:srgbClr val="F4F3F0"/>
          </a:solidFill>
          <a:ln w="12700">
            <a:solidFill>
              <a:srgbClr val="D7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1944014" cy="384048"/>
          </a:xfrm>
          <a:prstGeom prst="rect">
            <a:avLst/>
          </a:prstGeom>
          <a:solidFill>
            <a:srgbClr val="335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0664" y="1591056"/>
            <a:ext cx="18342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DATA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" y="2048256"/>
            <a:ext cx="176113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· GP video</a:t>
            </a:r>
            <a:endParaRPr lang="en-US" sz="950" dirty="0"/>
          </a:p>
          <a:p>
            <a:pPr marL="139700" indent="-1397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2-sec clips @ 16 fps</a:t>
            </a:r>
            <a:endParaRPr lang="en-US" sz="950" dirty="0"/>
          </a:p>
          <a:p>
            <a:pPr marL="139700" indent="-1397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 filter → 1,121</a:t>
            </a:r>
            <a:endParaRPr lang="en-US" sz="950" dirty="0"/>
          </a:p>
          <a:p>
            <a:pPr marL="139700" indent="-1397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+ hand labels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04134" y="1554480"/>
            <a:ext cx="1944014" cy="2286000"/>
          </a:xfrm>
          <a:prstGeom prst="rect">
            <a:avLst/>
          </a:prstGeom>
          <a:solidFill>
            <a:srgbClr val="F4F3F0"/>
          </a:solidFill>
          <a:ln w="12700">
            <a:solidFill>
              <a:srgbClr val="D7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4134" y="1554480"/>
            <a:ext cx="1944014" cy="384048"/>
          </a:xfrm>
          <a:prstGeom prst="rect">
            <a:avLst/>
          </a:prstGeom>
          <a:solidFill>
            <a:srgbClr val="8C1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58998" y="1591056"/>
            <a:ext cx="18342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GEOMETRY · M1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13862" y="2048256"/>
            <a:ext cx="176113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 YOLOv8</a:t>
            </a:r>
            <a:endParaRPr lang="en-US" sz="950" dirty="0"/>
          </a:p>
          <a:p>
            <a:pPr marL="139700" indent="-1397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 YOLO + type</a:t>
            </a:r>
            <a:endParaRPr lang="en-US" sz="950" dirty="0"/>
          </a:p>
          <a:p>
            <a:pPr marL="139700" indent="-1397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takeoff frame</a:t>
            </a:r>
            <a:endParaRPr lang="en-US" sz="950" dirty="0"/>
          </a:p>
          <a:p>
            <a:pPr marL="139700" indent="-1397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‖hoof − base‖·mpp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122469" y="1554480"/>
            <a:ext cx="1944014" cy="2286000"/>
          </a:xfrm>
          <a:prstGeom prst="rect">
            <a:avLst/>
          </a:prstGeom>
          <a:solidFill>
            <a:srgbClr val="F4F3F0"/>
          </a:solidFill>
          <a:ln w="12700">
            <a:solidFill>
              <a:srgbClr val="D7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122469" y="1554480"/>
            <a:ext cx="1944014" cy="384048"/>
          </a:xfrm>
          <a:prstGeom prst="rect">
            <a:avLst/>
          </a:prstGeom>
          <a:solidFill>
            <a:srgbClr val="8C1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77333" y="1591056"/>
            <a:ext cx="18342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SSL · M2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32197" y="2048256"/>
            <a:ext cx="176113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R(2+1)D-18 +Kinetics</a:t>
            </a:r>
            <a:endParaRPr lang="en-US" sz="950" dirty="0"/>
          </a:p>
          <a:p>
            <a:pPr marL="139700" indent="-1397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InfoNCE (τ = 0.1)</a:t>
            </a:r>
            <a:endParaRPr lang="en-US" sz="950" dirty="0"/>
          </a:p>
          <a:p>
            <a:pPr marL="139700" indent="-1397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6-way temporal order</a:t>
            </a:r>
            <a:endParaRPr lang="en-US" sz="950" dirty="0"/>
          </a:p>
          <a:p>
            <a:pPr marL="139700" indent="-1397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 + venue sampler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40803" y="1554480"/>
            <a:ext cx="1944014" cy="2286000"/>
          </a:xfrm>
          <a:prstGeom prst="rect">
            <a:avLst/>
          </a:prstGeom>
          <a:solidFill>
            <a:srgbClr val="F4F3F0"/>
          </a:solidFill>
          <a:ln w="12700">
            <a:solidFill>
              <a:srgbClr val="D7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40803" y="1554480"/>
            <a:ext cx="1944014" cy="384048"/>
          </a:xfrm>
          <a:prstGeom prst="rect">
            <a:avLst/>
          </a:prstGeom>
          <a:solidFill>
            <a:srgbClr val="8C1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95667" y="1591056"/>
            <a:ext cx="18342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HEADS · M3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50531" y="2048256"/>
            <a:ext cx="176113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/ fine-tuned</a:t>
            </a:r>
            <a:endParaRPr lang="en-US" sz="950" dirty="0"/>
          </a:p>
          <a:p>
            <a:pPr marL="139700" indent="-1397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head</a:t>
            </a:r>
            <a:endParaRPr lang="en-US" sz="950" dirty="0"/>
          </a:p>
          <a:p>
            <a:pPr marL="139700" indent="-1397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head → d</a:t>
            </a:r>
            <a:endParaRPr lang="en-US" sz="950" dirty="0"/>
          </a:p>
          <a:p>
            <a:pPr marL="139700" indent="-1397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type-conditioned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559138" y="1554480"/>
            <a:ext cx="1944014" cy="2286000"/>
          </a:xfrm>
          <a:prstGeom prst="rect">
            <a:avLst/>
          </a:prstGeom>
          <a:solidFill>
            <a:srgbClr val="F4F3F0"/>
          </a:solidFill>
          <a:ln w="12700">
            <a:solidFill>
              <a:srgbClr val="D7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559138" y="1554480"/>
            <a:ext cx="1944014" cy="384048"/>
          </a:xfrm>
          <a:prstGeom prst="rect">
            <a:avLst/>
          </a:prstGeom>
          <a:solidFill>
            <a:srgbClr val="335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614002" y="1591056"/>
            <a:ext cx="18342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EVALUATION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68866" y="2048256"/>
            <a:ext cx="176113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eff · n = 25–200</a:t>
            </a:r>
            <a:endParaRPr lang="en-US" sz="950" dirty="0"/>
          </a:p>
          <a:p>
            <a:pPr marL="139700" indent="-1397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cross-venue A / B</a:t>
            </a:r>
            <a:endParaRPr lang="en-US" sz="950" dirty="0"/>
          </a:p>
          <a:p>
            <a:pPr marL="139700" indent="-1397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9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probe</a:t>
            </a:r>
          </a:p>
          <a:p>
            <a:pPr marL="139700" indent="-1397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950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macro f1 / accuracy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629814" y="1554480"/>
            <a:ext cx="274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E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48149" y="1554480"/>
            <a:ext cx="274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E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66483" y="1554480"/>
            <a:ext cx="274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E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84818" y="1554480"/>
            <a:ext cx="274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E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5800" y="4041648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66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HORSE + FENCE DETECTION</a:t>
            </a:r>
            <a:endParaRPr lang="en-US" sz="950" dirty="0"/>
          </a:p>
        </p:txBody>
      </p:sp>
      <p:pic>
        <p:nvPicPr>
          <p:cNvPr id="30" name="Image 0" descr="assets/det_gri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4261104"/>
            <a:ext cx="3255264" cy="182880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685800" y="4261104"/>
            <a:ext cx="3255264" cy="1828800"/>
          </a:xfrm>
          <a:prstGeom prst="rect">
            <a:avLst/>
          </a:prstGeom>
          <a:ln w="12700">
            <a:solidFill>
              <a:srgbClr val="D7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85800" y="610819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 = 3.5 / w_fence  ·  d = ‖ hoof − base ‖ · mpp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160520" y="4617720"/>
            <a:ext cx="7342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66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TAKEOFF-FRAME DETECTION  ·  BOX-EDGE REVERSAL</a:t>
            </a:r>
            <a:endParaRPr lang="en-US" sz="950" dirty="0"/>
          </a:p>
        </p:txBody>
      </p:sp>
      <p:pic>
        <p:nvPicPr>
          <p:cNvPr id="34" name="Image 1" descr="assets/takeoff_filmstrip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60520" y="4855464"/>
            <a:ext cx="7342632" cy="590702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4160520" y="4855464"/>
            <a:ext cx="7342632" cy="590702"/>
          </a:xfrm>
          <a:prstGeom prst="rect">
            <a:avLst/>
          </a:prstGeom>
          <a:ln w="12700">
            <a:solidFill>
              <a:srgbClr val="D7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4160520" y="5504688"/>
            <a:ext cx="7342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→ suspension → landing  ·  </a:t>
            </a:r>
            <a:r>
              <a:rPr lang="en-US" sz="950" b="1" i="1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≈ 1.75 frames (83 % within ± 2)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685800" y="6400800"/>
            <a:ext cx="10817352" cy="0"/>
          </a:xfrm>
          <a:prstGeom prst="line">
            <a:avLst/>
          </a:prstGeom>
          <a:noFill/>
          <a:ln w="12700">
            <a:solidFill>
              <a:srgbClr val="D7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68580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Showjumping Outcomes with Self-Supervised Video Representations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87599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Ballhaus  ·  CS 131  ·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118872" cy="118872"/>
          </a:xfrm>
          <a:prstGeom prst="rect">
            <a:avLst/>
          </a:prstGeom>
          <a:solidFill>
            <a:srgbClr val="8C1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23544" y="42062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·  SELF-SUPERVISED PRETRAINING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Pretraining an R(2+1)</a:t>
            </a:r>
            <a:r>
              <a:rPr lang="en-US" sz="27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D-18 encoder </a:t>
            </a:r>
            <a:r>
              <a:rPr lang="en-US" sz="2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venue confound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Pretext objectives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" y="2075688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InfoNCE</a:t>
            </a:r>
            <a:r>
              <a:rPr lang="en-US" sz="13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views (τ = 0.1</a:t>
            </a:r>
            <a:r>
              <a:rPr lang="en-US" sz="13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sz="1350" b="1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6-way temporal-order</a:t>
            </a:r>
            <a:r>
              <a:rPr lang="en-US" sz="13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3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4-frame sub-clips (λ = 0.3).</a:t>
            </a:r>
            <a:endParaRPr lang="en-US" sz="13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R(2+1)D-18 + MLP projector · AdamW · cosine · batch 16 · 10 epochs.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3246120"/>
            <a:ext cx="5212080" cy="1143000"/>
          </a:xfrm>
          <a:prstGeom prst="rect">
            <a:avLst/>
          </a:prstGeom>
          <a:solidFill>
            <a:srgbClr val="F4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3246120"/>
            <a:ext cx="64008" cy="1143000"/>
          </a:xfrm>
          <a:prstGeom prst="rect">
            <a:avLst/>
          </a:prstGeom>
          <a:solidFill>
            <a:srgbClr val="335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1832" y="33832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REPRESENTATIONAL COLLAPSE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41832" y="3666744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50"/>
              </a:lnSpc>
              <a:buSzPct val="100000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From-scratch: losses fall</a:t>
            </a: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close mappings (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cosine ≈ </a:t>
            </a: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0.97).</a:t>
            </a:r>
          </a:p>
          <a:p>
            <a:pPr>
              <a:lnSpc>
                <a:spcPts val="1650"/>
              </a:lnSpc>
              <a:buSzPct val="100000"/>
            </a:pPr>
            <a:r>
              <a:rPr lang="en-US" sz="13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Kinetics-400 pretrained weights.</a:t>
            </a:r>
            <a:endParaRPr lang="en-US" sz="1300" b="1" dirty="0"/>
          </a:p>
        </p:txBody>
      </p:sp>
      <p:sp>
        <p:nvSpPr>
          <p:cNvPr id="11" name="Shape 9"/>
          <p:cNvSpPr/>
          <p:nvPr/>
        </p:nvSpPr>
        <p:spPr>
          <a:xfrm>
            <a:off x="685800" y="4572000"/>
            <a:ext cx="5212080" cy="1463040"/>
          </a:xfrm>
          <a:prstGeom prst="rect">
            <a:avLst/>
          </a:prstGeom>
          <a:solidFill>
            <a:srgbClr val="F4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5800" y="4572000"/>
            <a:ext cx="64008" cy="1463040"/>
          </a:xfrm>
          <a:prstGeom prst="rect">
            <a:avLst/>
          </a:prstGeom>
          <a:solidFill>
            <a:srgbClr val="8C1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41832" y="47091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41832" y="4992624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axis of variation = venue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(arena, lighting, footing, crowd)</a:t>
            </a:r>
          </a:p>
          <a:p>
            <a:pPr marL="0" indent="0">
              <a:lnSpc>
                <a:spcPts val="1700"/>
              </a:lnSpc>
              <a:buNone/>
            </a:pPr>
            <a:endParaRPr lang="en-US" sz="1350" b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700"/>
              </a:lnSpc>
              <a:buNone/>
            </a:pPr>
            <a:r>
              <a:rPr lang="en-US" sz="13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hold out entire source broadcasts.</a:t>
            </a:r>
            <a:endParaRPr lang="en-US" sz="1350" b="1" dirty="0"/>
          </a:p>
        </p:txBody>
      </p:sp>
      <p:pic>
        <p:nvPicPr>
          <p:cNvPr id="15" name="Image 0" descr="assets/tsne_vide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46520" y="1737360"/>
            <a:ext cx="5074920" cy="37033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446520" y="1737360"/>
            <a:ext cx="5074920" cy="3703320"/>
          </a:xfrm>
          <a:prstGeom prst="rect">
            <a:avLst/>
          </a:prstGeom>
          <a:ln w="12700">
            <a:solidFill>
              <a:srgbClr val="D7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46520" y="5495544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  t-SNE </a:t>
            </a:r>
            <a:r>
              <a:rPr lang="en-US" sz="1050" i="1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pre-fix colored </a:t>
            </a:r>
            <a:r>
              <a:rPr lang="en-US" sz="1050" i="1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</a:t>
            </a:r>
            <a:r>
              <a:rPr lang="en-US" sz="1050" i="1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broadcast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85800" y="6400800"/>
            <a:ext cx="10817352" cy="0"/>
          </a:xfrm>
          <a:prstGeom prst="line">
            <a:avLst/>
          </a:prstGeom>
          <a:noFill/>
          <a:ln w="12700">
            <a:solidFill>
              <a:srgbClr val="D7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8580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Showjumping Outcomes with Self-Supervised Video Representations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7599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Ballhaus  ·  CS 131  ·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118872" cy="118872"/>
          </a:xfrm>
          <a:prstGeom prst="rect">
            <a:avLst/>
          </a:prstGeom>
          <a:solidFill>
            <a:srgbClr val="8C1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23544" y="42062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·  RESULTS — REPRESENTATION LEARNING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Pretraining converges and confound suppression</a:t>
            </a:r>
            <a:endParaRPr lang="en-US" sz="2700" dirty="0"/>
          </a:p>
        </p:txBody>
      </p:sp>
      <p:pic>
        <p:nvPicPr>
          <p:cNvPr id="5" name="Image 0" descr="assets/tsne_video_fin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783080"/>
            <a:ext cx="512064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783080"/>
            <a:ext cx="5120640" cy="2926080"/>
          </a:xfrm>
          <a:prstGeom prst="rect">
            <a:avLst/>
          </a:prstGeom>
          <a:ln w="12700">
            <a:solidFill>
              <a:srgbClr val="D7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5800" y="476402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  Final </a:t>
            </a:r>
            <a:r>
              <a:rPr lang="en-US" sz="1050" i="1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colored </a:t>
            </a:r>
            <a:r>
              <a:rPr lang="en-US" sz="1050" i="1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</a:t>
            </a:r>
            <a:r>
              <a:rPr lang="en-US" sz="1050" i="1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broadcast</a:t>
            </a:r>
            <a:endParaRPr lang="en-US" sz="1050" dirty="0"/>
          </a:p>
        </p:txBody>
      </p:sp>
      <p:pic>
        <p:nvPicPr>
          <p:cNvPr id="8" name="Image 1" descr="assets/training_curv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82512" y="1783080"/>
            <a:ext cx="5120640" cy="2926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382512" y="1783080"/>
            <a:ext cx="5120640" cy="2926080"/>
          </a:xfrm>
          <a:prstGeom prst="rect">
            <a:avLst/>
          </a:prstGeom>
          <a:ln w="12700">
            <a:solidFill>
              <a:srgbClr val="D7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382512" y="476402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  </a:t>
            </a:r>
            <a:r>
              <a:rPr lang="en-US" sz="1050" i="1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loss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85800" y="5230368"/>
            <a:ext cx="10817352" cy="914400"/>
          </a:xfrm>
          <a:prstGeom prst="rect">
            <a:avLst/>
          </a:prstGeom>
          <a:solidFill>
            <a:srgbClr val="F4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85800" y="5230368"/>
            <a:ext cx="64008" cy="914400"/>
          </a:xfrm>
          <a:prstGeom prst="rect">
            <a:avLst/>
          </a:prstGeom>
          <a:solidFill>
            <a:srgbClr val="335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941832" y="5367528"/>
            <a:ext cx="10360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RESULT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41832" y="5650992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Kinetics-init, no 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(InfoNCE 0.28</a:t>
            </a:r>
            <a:r>
              <a:rPr lang="en-US" sz="12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→0.05, temporal-order 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1.8→0.17). </a:t>
            </a:r>
            <a:r>
              <a:rPr lang="en-US" sz="12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Held-out-broadcast eval: confound </a:t>
            </a:r>
            <a:r>
              <a:rPr lang="en-US" sz="1250" b="1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lessened,</a:t>
            </a:r>
            <a:r>
              <a:rPr lang="en-US" sz="12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de-clusters by </a:t>
            </a:r>
            <a:r>
              <a:rPr lang="en-US" sz="12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but 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probe still 0.78 (</a:t>
            </a:r>
            <a:r>
              <a:rPr lang="en-US" sz="12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0.61, 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0.33).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85800" y="6400800"/>
            <a:ext cx="10817352" cy="0"/>
          </a:xfrm>
          <a:prstGeom prst="line">
            <a:avLst/>
          </a:prstGeom>
          <a:noFill/>
          <a:ln w="12700">
            <a:solidFill>
              <a:srgbClr val="D7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8580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Showjumping Outcomes with Self-Supervised Video Representations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87599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Ballhaus  ·  CS 131  ·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118872" cy="118872"/>
          </a:xfrm>
          <a:prstGeom prst="rect">
            <a:avLst/>
          </a:prstGeom>
          <a:solidFill>
            <a:srgbClr val="8C1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23544" y="42062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·  RESULTS — DOWNSTREAM OUTCOME PREDICTION (PRELIMINARY)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 limitations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17941" y="1593299"/>
            <a:ext cx="3399392" cy="2741705"/>
          </a:xfrm>
          <a:prstGeom prst="rect">
            <a:avLst/>
          </a:prstGeom>
          <a:ln w="12700">
            <a:solidFill>
              <a:srgbClr val="D7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-432600" y="4369521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  110 </a:t>
            </a:r>
            <a:r>
              <a:rPr lang="en-US" sz="1050" i="1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outcomes</a:t>
            </a:r>
            <a:endParaRPr lang="en-US" sz="1050" dirty="0"/>
          </a:p>
        </p:txBody>
      </p:sp>
      <p:pic>
        <p:nvPicPr>
          <p:cNvPr id="8" name="Image 1" descr="assets/sample_efficiency_f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36571" y="1654577"/>
            <a:ext cx="3773859" cy="26939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183815" y="1599713"/>
            <a:ext cx="3773859" cy="2724912"/>
          </a:xfrm>
          <a:prstGeom prst="rect">
            <a:avLst/>
          </a:prstGeom>
          <a:ln w="12700">
            <a:solidFill>
              <a:srgbClr val="D7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333487" y="4401743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8.  Accuracy </a:t>
            </a:r>
            <a:r>
              <a:rPr lang="en-US" sz="1050" i="1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r>
              <a:rPr lang="en-US" sz="1050" i="1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number of labels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17941" y="4899603"/>
            <a:ext cx="10817352" cy="868680"/>
          </a:xfrm>
          <a:prstGeom prst="rect">
            <a:avLst/>
          </a:prstGeom>
          <a:solidFill>
            <a:srgbClr val="F4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17941" y="4899603"/>
            <a:ext cx="64008" cy="868680"/>
          </a:xfrm>
          <a:prstGeom prst="rect">
            <a:avLst/>
          </a:prstGeom>
          <a:solidFill>
            <a:srgbClr val="8C1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773973" y="5036763"/>
            <a:ext cx="10360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73973" y="5320227"/>
            <a:ext cx="10314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≈ 0.90 = majority-class rate. Macro-F1</a:t>
            </a:r>
            <a:r>
              <a:rPr lang="en-US" sz="12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0.47 single-class baseline. SSL learned to always predict </a:t>
            </a:r>
            <a:r>
              <a:rPr lang="en-US" sz="12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r>
              <a:rPr lang="en-US" sz="12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requires more diverse outcome labels.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250"/>
              <a:t>Baseline means are raised by a few degenerate 1.0 folds while mostly stabilizing at 0.47, so the methods can't be reliably ordered.</a:t>
            </a:r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85800" y="6400800"/>
            <a:ext cx="10817352" cy="0"/>
          </a:xfrm>
          <a:prstGeom prst="line">
            <a:avLst/>
          </a:prstGeom>
          <a:noFill/>
          <a:ln w="12700">
            <a:solidFill>
              <a:srgbClr val="D7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8580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Showjumping Outcomes with Self-Supervised Video Representations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87599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Ballhaus  ·  CS 131  ·  7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5249350-8EFA-B0B5-CE5B-A551D4311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668" y="1699473"/>
            <a:ext cx="3400263" cy="2642616"/>
          </a:xfrm>
          <a:prstGeom prst="rect">
            <a:avLst/>
          </a:prstGeom>
        </p:spPr>
      </p:pic>
      <p:sp>
        <p:nvSpPr>
          <p:cNvPr id="19" name="Shape 5">
            <a:extLst>
              <a:ext uri="{FF2B5EF4-FFF2-40B4-BE49-F238E27FC236}">
                <a16:creationId xmlns:a16="http://schemas.microsoft.com/office/drawing/2014/main" id="{15A173E2-957B-E599-B21D-16BD19C2EB6C}"/>
              </a:ext>
            </a:extLst>
          </p:cNvPr>
          <p:cNvSpPr/>
          <p:nvPr/>
        </p:nvSpPr>
        <p:spPr>
          <a:xfrm>
            <a:off x="8163196" y="1599713"/>
            <a:ext cx="3461222" cy="2709355"/>
          </a:xfrm>
          <a:prstGeom prst="rect">
            <a:avLst/>
          </a:prstGeom>
          <a:ln w="12700">
            <a:solidFill>
              <a:srgbClr val="D7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EEED0EA6-5809-15A8-CB66-CC1CB1F44892}"/>
              </a:ext>
            </a:extLst>
          </p:cNvPr>
          <p:cNvSpPr/>
          <p:nvPr/>
        </p:nvSpPr>
        <p:spPr>
          <a:xfrm>
            <a:off x="3510424" y="440815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7.  Macro-F1 vs</a:t>
            </a:r>
            <a:r>
              <a:rPr lang="en-US" sz="1050" i="1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number of labels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B09CD03-BA67-50C6-2C56-C8036C934C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617" y="1731695"/>
            <a:ext cx="29718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118872" cy="118872"/>
          </a:xfrm>
          <a:prstGeom prst="rect">
            <a:avLst/>
          </a:prstGeom>
          <a:solidFill>
            <a:srgbClr val="8C1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23544" y="42062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·  SUMMARY &amp; OUTLOOK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Summary, limitations, </a:t>
            </a:r>
            <a:r>
              <a:rPr lang="en-US" sz="27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next steps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3456432" cy="0"/>
          </a:xfrm>
          <a:prstGeom prst="line">
            <a:avLst/>
          </a:prstGeom>
          <a:noFill/>
          <a:ln w="254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911096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441448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</a:t>
            </a: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unlabeled-to-task pipeline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66260" y="1783080"/>
            <a:ext cx="3456432" cy="0"/>
          </a:xfrm>
          <a:prstGeom prst="line">
            <a:avLst/>
          </a:prstGeom>
          <a:noFill/>
          <a:ln w="254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66260" y="1911096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366260" y="2441448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Venue </a:t>
            </a:r>
            <a:r>
              <a:rPr lang="en-US" sz="15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confound lessened but not absent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1783080"/>
            <a:ext cx="3456432" cy="0"/>
          </a:xfrm>
          <a:prstGeom prst="line">
            <a:avLst/>
          </a:prstGeom>
          <a:noFill/>
          <a:ln w="254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046720" y="1911096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046720" y="2441448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 </a:t>
            </a: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data-limited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800" y="4892040"/>
            <a:ext cx="64008" cy="1143000"/>
          </a:xfrm>
          <a:prstGeom prst="rect">
            <a:avLst/>
          </a:prstGeom>
          <a:solidFill>
            <a:srgbClr val="8C1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5800" y="6236208"/>
            <a:ext cx="10817352" cy="0"/>
          </a:xfrm>
          <a:prstGeom prst="line">
            <a:avLst/>
          </a:prstGeom>
          <a:noFill/>
          <a:ln w="12700">
            <a:solidFill>
              <a:srgbClr val="D7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63093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Brooke Ballhaus  ·  ballhaus@stanford.edu  ·  github.com/bballhaus/showjumping-ssl</a:t>
            </a:r>
            <a:endParaRPr lang="en-US" sz="1100" dirty="0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FD27B952-7F76-BE50-B47F-E75DA4DF9094}"/>
              </a:ext>
            </a:extLst>
          </p:cNvPr>
          <p:cNvSpPr/>
          <p:nvPr/>
        </p:nvSpPr>
        <p:spPr>
          <a:xfrm>
            <a:off x="745236" y="3781045"/>
            <a:ext cx="10817352" cy="1179569"/>
          </a:xfrm>
          <a:prstGeom prst="rect">
            <a:avLst/>
          </a:prstGeom>
          <a:solidFill>
            <a:srgbClr val="F4F3F0"/>
          </a:solidFill>
          <a:ln/>
        </p:spPr>
        <p:txBody>
          <a:bodyPr/>
          <a:lstStyle/>
          <a:p>
            <a:pPr>
              <a:lnSpc>
                <a:spcPts val="1900"/>
              </a:lnSpc>
              <a:buSzPct val="100000"/>
            </a:pPr>
            <a:endParaRPr lang="en-US" sz="140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4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&gt;300 fully labled data entries.</a:t>
            </a:r>
            <a:endParaRPr lang="en-US" sz="1400"/>
          </a:p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4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greater outcome balance.</a:t>
            </a:r>
            <a:endParaRPr lang="en-US" sz="1400"/>
          </a:p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4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cross-venue sweep.</a:t>
            </a:r>
            <a:endParaRPr lang="en-US" sz="1400" dirty="0"/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809AF4A8-386D-D006-059F-D3D9EB7590CE}"/>
              </a:ext>
            </a:extLst>
          </p:cNvPr>
          <p:cNvSpPr/>
          <p:nvPr/>
        </p:nvSpPr>
        <p:spPr>
          <a:xfrm>
            <a:off x="685800" y="3785616"/>
            <a:ext cx="64008" cy="1143000"/>
          </a:xfrm>
          <a:prstGeom prst="rect">
            <a:avLst/>
          </a:prstGeom>
          <a:solidFill>
            <a:srgbClr val="8C1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A8967FAD-3E50-4204-7333-C9F4FD9AD730}"/>
              </a:ext>
            </a:extLst>
          </p:cNvPr>
          <p:cNvSpPr/>
          <p:nvPr/>
        </p:nvSpPr>
        <p:spPr>
          <a:xfrm>
            <a:off x="896112" y="3781045"/>
            <a:ext cx="10360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</a:t>
            </a:r>
            <a:r>
              <a:rPr lang="en-US" sz="1050" b="1" kern="0" spc="200" dirty="0">
                <a:solidFill>
                  <a:srgbClr val="8C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</a:t>
            </a:r>
            <a:endParaRPr lang="en-US" sz="1050" dirty="0"/>
          </a:p>
        </p:txBody>
      </p:sp>
      <p:sp>
        <p:nvSpPr>
          <p:cNvPr id="28" name="Shape 15">
            <a:extLst>
              <a:ext uri="{FF2B5EF4-FFF2-40B4-BE49-F238E27FC236}">
                <a16:creationId xmlns:a16="http://schemas.microsoft.com/office/drawing/2014/main" id="{1AC7CB52-AB81-6C6D-51D2-05D936E49456}"/>
              </a:ext>
            </a:extLst>
          </p:cNvPr>
          <p:cNvSpPr/>
          <p:nvPr/>
        </p:nvSpPr>
        <p:spPr>
          <a:xfrm>
            <a:off x="758952" y="4855471"/>
            <a:ext cx="10817352" cy="1179569"/>
          </a:xfrm>
          <a:prstGeom prst="rect">
            <a:avLst/>
          </a:prstGeom>
          <a:solidFill>
            <a:srgbClr val="F4F3F0"/>
          </a:solidFill>
          <a:ln/>
        </p:spPr>
        <p:txBody>
          <a:bodyPr/>
          <a:lstStyle/>
          <a:p>
            <a:pPr>
              <a:lnSpc>
                <a:spcPts val="1900"/>
              </a:lnSpc>
              <a:buSzPct val="100000"/>
            </a:pPr>
            <a:endParaRPr lang="en-US" sz="140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4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Pose-based motion features.</a:t>
            </a:r>
          </a:p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4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SSL.</a:t>
            </a:r>
            <a:endParaRPr lang="en-US" sz="1400"/>
          </a:p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4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venue invariance.</a:t>
            </a:r>
            <a:endParaRPr lang="en-US" sz="1400" dirty="0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DBC3A8DD-B2D7-B03B-9FDC-EF6E708D3B32}"/>
              </a:ext>
            </a:extLst>
          </p:cNvPr>
          <p:cNvSpPr/>
          <p:nvPr/>
        </p:nvSpPr>
        <p:spPr>
          <a:xfrm>
            <a:off x="873102" y="4869174"/>
            <a:ext cx="10360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>
                <a:solidFill>
                  <a:srgbClr val="8C1515"/>
                </a:solidFill>
                <a:latin typeface="Arial" pitchFamily="34" charset="0"/>
                <a:cs typeface="Arial" pitchFamily="34" charset="-120"/>
              </a:rPr>
              <a:t>FUTURE RESEARCH</a:t>
            </a:r>
            <a:endParaRPr lang="en-US" sz="10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F88F85B-F89F-18D1-B1CA-CAF53812D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9874" y="3572058"/>
            <a:ext cx="3849012" cy="256682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F7C31D2-E9CF-9CEF-93BE-6035DCEC2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572058"/>
            <a:ext cx="3899934" cy="26007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849</Words>
  <Application>Microsoft Macintosh PowerPoint</Application>
  <PresentationFormat>Widescreen</PresentationFormat>
  <Paragraphs>151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Showjumping Outcomes with Self-Supervised Video Representations</dc:title>
  <dc:subject>PptxGenJS Presentation</dc:subject>
  <dc:creator>Brooke Ballhaus</dc:creator>
  <cp:lastModifiedBy>Brooke Hunter Ballhaus</cp:lastModifiedBy>
  <cp:revision>6</cp:revision>
  <dcterms:created xsi:type="dcterms:W3CDTF">2026-06-03T20:22:00Z</dcterms:created>
  <dcterms:modified xsi:type="dcterms:W3CDTF">2026-06-03T22:59:03Z</dcterms:modified>
</cp:coreProperties>
</file>